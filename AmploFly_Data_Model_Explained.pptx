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7760" y="2331720"/>
            <a:ext cx="2286000" cy="64008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Unified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86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B7C2D2"/>
                </a:solidFill>
                <a:latin typeface="Calibri"/>
              </a:rPr>
              <a:t>How we store data — and how the AI answers questions from it.</a:t>
            </a:r>
            <a:br/>
            <a:r>
              <a:t>In plain terms.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2A897"/>
                </a:solidFill>
                <a:latin typeface="Calibri"/>
              </a:rPr>
              <a:t>AmploFly4.0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243B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914400" cy="50292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6B7280"/>
                </a:solidFill>
                <a:latin typeface="Calibri"/>
              </a:rPr>
              <a:t>A business runs on messy data — scattered, and in a hundred different shapes.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Prices in one file, financials in another, lab specs in a third — every file a different format.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The same thing written ten ways:  “Rs.20”, “₹20”, “20 INR”…  “10 crore” vs “100 million”.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No single place to ask a question that spans all of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3212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50">
                <a:solidFill>
                  <a:srgbClr val="12A897"/>
                </a:solidFill>
                <a:latin typeface="Calibri"/>
              </a:rPr>
              <a:t>Analogy:  </a:t>
            </a:r>
            <a:r>
              <a:rPr sz="1550" i="1">
                <a:solidFill>
                  <a:srgbClr val="16243B"/>
                </a:solidFill>
                <a:latin typeface="Calibri"/>
              </a:rPr>
              <a:t>A library where every book is in a different language and shelved at random. The knowledge is all there — but you can’t find anything, and you can’t compare anything.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243B"/>
                </a:solidFill>
                <a:latin typeface="Calibri"/>
              </a:rPr>
              <a:t>The tempting — but wrong —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914400" cy="50292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6B7280"/>
                </a:solidFill>
                <a:latin typeface="Calibri"/>
              </a:rPr>
              <a:t>“Let’s just copy everything into one big clean table.”  Don’t.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You’d have to re-copy and re-clean the data every single time a new file arrives.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A new, differently-shaped file breaks the table — so you rebuild it. Again and again.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Hundreds of clients → hundreds of tables → a mess no one can govern or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3212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50">
                <a:solidFill>
                  <a:srgbClr val="12A897"/>
                </a:solidFill>
                <a:latin typeface="Calibri"/>
              </a:rPr>
              <a:t>Why it fails:  </a:t>
            </a:r>
            <a:r>
              <a:rPr sz="1550" i="1">
                <a:solidFill>
                  <a:srgbClr val="16243B"/>
                </a:solidFill>
                <a:latin typeface="Calibri"/>
              </a:rPr>
              <a:t>Photocopying every book into one giant binder. The moment a new book arrives in a new language, the binder is wrong — and you start 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243B"/>
                </a:solidFill>
                <a:latin typeface="Calibri"/>
              </a:rPr>
              <a:t>The big idea: two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914400" cy="50292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6B7280"/>
                </a:solidFill>
                <a:latin typeface="Calibri"/>
              </a:rPr>
              <a:t>Leave the data where it is. Lay a thin layer of meaning on 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148840"/>
            <a:ext cx="6126480" cy="1051560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 w="15875">
            <a:solidFill>
              <a:srgbClr val="12A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2A897"/>
                </a:solidFill>
                <a:latin typeface="Calibri"/>
              </a:rPr>
              <a:t>MEANING LAYER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C434F"/>
                </a:solidFill>
                <a:latin typeface="Calibri"/>
              </a:rPr>
              <a:t>a clean map — what each thing means + where it lives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15000" y="3310128"/>
            <a:ext cx="731520" cy="640080"/>
          </a:xfrm>
          <a:prstGeom prst="downArrow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3649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points at  (holds no data)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4114800"/>
            <a:ext cx="6126480" cy="1051560"/>
          </a:xfrm>
          <a:prstGeom prst="roundRect">
            <a:avLst>
              <a:gd name="adj" fmla="val 8000"/>
            </a:avLst>
          </a:prstGeom>
          <a:solidFill>
            <a:srgbClr val="ECEEF1"/>
          </a:solidFill>
          <a:ln w="1587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6B7280"/>
                </a:solidFill>
                <a:latin typeface="Calibri"/>
              </a:rPr>
              <a:t>RAW LAYER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C434F"/>
                </a:solidFill>
                <a:latin typeface="Calibri"/>
              </a:rPr>
              <a:t>every file, kept exactly as it arrived — untouched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53212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50">
                <a:solidFill>
                  <a:srgbClr val="12A897"/>
                </a:solidFill>
                <a:latin typeface="Calibri"/>
              </a:rPr>
              <a:t>Analogy:  </a:t>
            </a:r>
            <a:r>
              <a:rPr sz="1550" i="1">
                <a:solidFill>
                  <a:srgbClr val="16243B"/>
                </a:solidFill>
                <a:latin typeface="Calibri"/>
              </a:rPr>
              <a:t>It’s a library catalogue. The books stay on the shelves. The catalogue doesn’t contain the books — it just tells you which book, which page, and what it means.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243B"/>
                </a:solidFill>
                <a:latin typeface="Calibri"/>
              </a:rPr>
              <a:t>What’s stored — and what’s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914400" cy="50292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6B7280"/>
                </a:solidFill>
                <a:latin typeface="Calibri"/>
              </a:rPr>
              <a:t>The one slide to remember.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349240" cy="3108960"/>
          </a:xfrm>
          <a:prstGeom prst="roundRect">
            <a:avLst>
              <a:gd name="adj" fmla="val 4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2A897"/>
                </a:solidFill>
                <a:latin typeface="Calibri"/>
              </a:rPr>
              <a:t>STORED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C434F"/>
                </a:solidFill>
                <a:latin typeface="Calibri"/>
              </a:rPr>
              <a:t>✓  The original files, exactly as-is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C434F"/>
                </a:solidFill>
                <a:latin typeface="Calibri"/>
              </a:rPr>
              <a:t>✓  The catalogue — the map + the cleaning rules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C434F"/>
                </a:solidFill>
                <a:latin typeface="Calibri"/>
              </a:rPr>
              <a:t>✓  Written notes &amp; strategy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349240" cy="3108960"/>
          </a:xfrm>
          <a:prstGeom prst="roundRect">
            <a:avLst>
              <a:gd name="adj" fmla="val 4000"/>
            </a:avLst>
          </a:prstGeom>
          <a:solidFill>
            <a:srgbClr val="ECE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6243B"/>
                </a:solidFill>
                <a:latin typeface="Calibri"/>
              </a:rPr>
              <a:t>NOT STORED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C434F"/>
                </a:solidFill>
                <a:latin typeface="Calibri"/>
              </a:rPr>
              <a:t>✕  A second copy of your data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C434F"/>
                </a:solidFill>
                <a:latin typeface="Calibri"/>
              </a:rPr>
              <a:t>✕  Values inside the map — it only points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C434F"/>
                </a:solidFill>
                <a:latin typeface="Calibri"/>
              </a:rPr>
              <a:t>✕  Any change to the raw files — raw is never touched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50">
                <a:solidFill>
                  <a:srgbClr val="12A897"/>
                </a:solidFill>
                <a:latin typeface="Calibri"/>
              </a:rPr>
              <a:t>In short:  </a:t>
            </a:r>
            <a:r>
              <a:rPr sz="1550" i="1">
                <a:solidFill>
                  <a:srgbClr val="16243B"/>
                </a:solidFill>
                <a:latin typeface="Calibri"/>
              </a:rPr>
              <a:t>The map is tiny. Your data is never duplicated. Raw is never changed.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243B"/>
                </a:solidFill>
                <a:latin typeface="Calibri"/>
              </a:rPr>
              <a:t>What’s an “object”?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914400" cy="50292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6B7280"/>
                </a:solidFill>
                <a:latin typeface="Calibri"/>
              </a:rPr>
              <a:t>An object is a business thing you care about — a noun.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Examples:  Company.  Product.  Price.  Customer.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Think of it as a catalogue card for that thing — it lists what we know about 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It holds no values itself — just the facts it has, and where each one lives.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3212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50">
                <a:solidFill>
                  <a:srgbClr val="12A897"/>
                </a:solidFill>
                <a:latin typeface="Calibri"/>
              </a:rPr>
              <a:t>Analogy:  </a:t>
            </a:r>
            <a:r>
              <a:rPr sz="1550" i="1">
                <a:solidFill>
                  <a:srgbClr val="16243B"/>
                </a:solidFill>
                <a:latin typeface="Calibri"/>
              </a:rPr>
              <a:t>A catalogue card titled “Product” says: it has a name, a price, a spec — and points to the shelf where each of those actually lives.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243B"/>
                </a:solidFill>
                <a:latin typeface="Calibri"/>
              </a:rPr>
              <a:t>Properties &amp; pointers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914400" cy="50292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6B7280"/>
                </a:solidFill>
                <a:latin typeface="Calibri"/>
              </a:rPr>
              <a:t>Each fact on the card is a “pointer” to the real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Property  =  one fact  (a product’s price, a company’s revenue).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Pointer  =  “that price lives in file X, column Y.”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The card never copies the number — it simply points to where it 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3212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50">
                <a:solidFill>
                  <a:srgbClr val="12A897"/>
                </a:solidFill>
                <a:latin typeface="Calibri"/>
              </a:rPr>
              <a:t>Analogy:  </a:t>
            </a:r>
            <a:r>
              <a:rPr sz="1550" i="1">
                <a:solidFill>
                  <a:srgbClr val="16243B"/>
                </a:solidFill>
                <a:latin typeface="Calibri"/>
              </a:rPr>
              <a:t>Like a contact named “Mom”. You tap the name; the phone finds the number. You never memorise the number — the contact points to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243B"/>
                </a:solidFill>
                <a:latin typeface="Calibri"/>
              </a:rPr>
              <a:t>The clean rule (the clever bit)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914400" cy="50292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6B7280"/>
                </a:solidFill>
                <a:latin typeface="Calibri"/>
              </a:rPr>
              <a:t>Each pointer also carries a small rule that tidies the raw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Raw says  “Rs.20”   →  rule strips the “Rs.”   →  20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Raw says  “10 crore”  →  rule converts   →  100 million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So everything lines up as clean, comparable numbers — automatically, on the way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3212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50">
                <a:solidFill>
                  <a:srgbClr val="12A897"/>
                </a:solidFill>
                <a:latin typeface="Calibri"/>
              </a:rPr>
              <a:t>The IP:  </a:t>
            </a:r>
            <a:r>
              <a:rPr sz="1550" i="1">
                <a:solidFill>
                  <a:srgbClr val="16243B"/>
                </a:solidFill>
                <a:latin typeface="Calibri"/>
              </a:rPr>
              <a:t>All the intelligence lives in these little rules — not in a copy of the data. This map of rules is the real, hard-to-copy asset.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243B"/>
                </a:solidFill>
                <a:latin typeface="Calibri"/>
              </a:rPr>
              <a:t>Links — the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914400" cy="50292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6B7280"/>
                </a:solidFill>
                <a:latin typeface="Calibri"/>
              </a:rPr>
              <a:t>Objects connect to each other. This is the part a spreadsheet can’t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Brand  sells  Product.    Product  competes-with  Product.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These connections let the AI reason:  “who competes with us on the 1-litre pack?”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A flat table can’t answer that. A web of linked objects can.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3212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50">
                <a:solidFill>
                  <a:srgbClr val="12A897"/>
                </a:solidFill>
                <a:latin typeface="Calibri"/>
              </a:rPr>
              <a:t>Analogy:  </a:t>
            </a:r>
            <a:r>
              <a:rPr sz="1550" i="1">
                <a:solidFill>
                  <a:srgbClr val="16243B"/>
                </a:solidFill>
                <a:latin typeface="Calibri"/>
              </a:rPr>
              <a:t>The “see also…” cross-references in a catalogue. That web of links is what makes it smart — not just a 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243B"/>
                </a:solidFill>
                <a:latin typeface="Calibri"/>
              </a:rPr>
              <a:t>How a question gets answered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914400" cy="50292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6B7280"/>
                </a:solidFill>
                <a:latin typeface="Calibri"/>
              </a:rPr>
              <a:t>Nothing is pre-built. Every answer is assembled live, on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900">
                <a:solidFill>
                  <a:srgbClr val="12A897"/>
                </a:solidFill>
                <a:latin typeface="Calibri"/>
              </a:rPr>
              <a:t>1   </a:t>
            </a:r>
            <a:r>
              <a:rPr sz="1800">
                <a:solidFill>
                  <a:srgbClr val="3C434F"/>
                </a:solidFill>
                <a:latin typeface="Calibri"/>
              </a:rPr>
              <a:t>Understand the question → which objects matter?  (Price? Financials? Strategy?)</a:t>
            </a:r>
          </a:p>
          <a:p>
            <a:pPr>
              <a:spcAft>
                <a:spcPts val="1100"/>
              </a:spcAft>
            </a:pPr>
            <a:r>
              <a:rPr b="1" sz="1900">
                <a:solidFill>
                  <a:srgbClr val="12A897"/>
                </a:solidFill>
                <a:latin typeface="Calibri"/>
              </a:rPr>
              <a:t>2   </a:t>
            </a:r>
            <a:r>
              <a:rPr sz="1800">
                <a:solidFill>
                  <a:srgbClr val="3C434F"/>
                </a:solidFill>
                <a:latin typeface="Calibri"/>
              </a:rPr>
              <a:t>Follow their pointers to the raw data.</a:t>
            </a:r>
          </a:p>
          <a:p>
            <a:pPr>
              <a:spcAft>
                <a:spcPts val="1100"/>
              </a:spcAft>
            </a:pPr>
            <a:r>
              <a:rPr b="1" sz="1900">
                <a:solidFill>
                  <a:srgbClr val="12A897"/>
                </a:solidFill>
                <a:latin typeface="Calibri"/>
              </a:rPr>
              <a:t>3   </a:t>
            </a:r>
            <a:r>
              <a:rPr sz="1800">
                <a:solidFill>
                  <a:srgbClr val="3C434F"/>
                </a:solidFill>
                <a:latin typeface="Calibri"/>
              </a:rPr>
              <a:t>Pull only what’s needed, and apply the clean rules.</a:t>
            </a:r>
          </a:p>
          <a:p>
            <a:pPr>
              <a:spcAft>
                <a:spcPts val="1100"/>
              </a:spcAft>
            </a:pPr>
            <a:r>
              <a:rPr b="1" sz="1900">
                <a:solidFill>
                  <a:srgbClr val="12A897"/>
                </a:solidFill>
                <a:latin typeface="Calibri"/>
              </a:rPr>
              <a:t>4   </a:t>
            </a:r>
            <a:r>
              <a:rPr sz="1800">
                <a:solidFill>
                  <a:srgbClr val="3C434F"/>
                </a:solidFill>
                <a:latin typeface="Calibri"/>
              </a:rPr>
              <a:t>Add any relevant written notes / strategy text.</a:t>
            </a:r>
          </a:p>
          <a:p>
            <a:pPr>
              <a:spcAft>
                <a:spcPts val="1100"/>
              </a:spcAft>
            </a:pPr>
            <a:r>
              <a:rPr b="1" sz="1900">
                <a:solidFill>
                  <a:srgbClr val="12A897"/>
                </a:solidFill>
                <a:latin typeface="Calibri"/>
              </a:rPr>
              <a:t>5   </a:t>
            </a:r>
            <a:r>
              <a:rPr sz="1800">
                <a:solidFill>
                  <a:srgbClr val="3C434F"/>
                </a:solidFill>
                <a:latin typeface="Calibri"/>
              </a:rPr>
              <a:t>Fuse it all into one plain-English answer — with its 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3212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50">
                <a:solidFill>
                  <a:srgbClr val="12A897"/>
                </a:solidFill>
                <a:latin typeface="Calibri"/>
              </a:rPr>
              <a:t>Analogy:  </a:t>
            </a:r>
            <a:r>
              <a:rPr sz="1550" i="1">
                <a:solidFill>
                  <a:srgbClr val="16243B"/>
                </a:solidFill>
                <a:latin typeface="Calibri"/>
              </a:rPr>
              <a:t>Ask a librarian a question. They don’t re-read the whole library — they grab the few right pages and write you a short, sourced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243B"/>
                </a:solidFill>
                <a:latin typeface="Calibri"/>
              </a:rPr>
              <a:t>“But doesn’t it re-fetch every time? Won’t that be slow at scale?”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914400" cy="50292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6B7280"/>
                </a:solidFill>
                <a:latin typeface="Calibri"/>
              </a:rPr>
              <a:t>Great question. No — for the same reason a good library is fast.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3C434F"/>
                </a:solidFill>
                <a:latin typeface="Calibri"/>
              </a:rPr>
              <a:t>•  Each question only touches the few facts it needs — never all the data.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3C434F"/>
                </a:solidFill>
                <a:latin typeface="Calibri"/>
              </a:rPr>
              <a:t>•  For common questions, we prepare the answer-sheet in advance, and refresh it only when the data changes — so it’s instant.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3C434F"/>
                </a:solidFill>
                <a:latin typeface="Calibri"/>
              </a:rPr>
              <a:t>•  Only rare, brand-new questions go back to the shelves.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40680"/>
            <a:ext cx="10927080" cy="114300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50">
                <a:solidFill>
                  <a:srgbClr val="12A897"/>
                </a:solidFill>
                <a:latin typeface="Calibri"/>
              </a:rPr>
              <a:t>Analogy:  </a:t>
            </a:r>
            <a:r>
              <a:rPr sz="1550" i="1">
                <a:solidFill>
                  <a:srgbClr val="16243B"/>
                </a:solidFill>
                <a:latin typeface="Calibri"/>
              </a:rPr>
              <a:t>A library keeps ready-made summary sheets for popular topics — instant answers. Only unusual requests need a walk to the stacks. We do the heavy work once, in the background — not on every question.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6243B"/>
                </a:solidFill>
                <a:latin typeface="Calibri"/>
              </a:rPr>
              <a:t>Why this is powerful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170432"/>
            <a:ext cx="914400" cy="50292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6B7280"/>
                </a:solidFill>
                <a:latin typeface="Calibri"/>
              </a:rPr>
              <a:t>One model. Any business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881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New data?  Just add a few pointers. The concepts don’t change — nothing breaks.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Same platform serves ESG, pricing, finance, supply chain — swap the data, not the system.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C434F"/>
                </a:solidFill>
                <a:latin typeface="Calibri"/>
              </a:rPr>
              <a:t>•  The map and its rules are the asset: hard to copy, easy to extend.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3212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b="1" sz="1550">
                <a:solidFill>
                  <a:srgbClr val="12A897"/>
                </a:solidFill>
                <a:latin typeface="Calibri"/>
              </a:rPr>
              <a:t>The bottom line:  </a:t>
            </a:r>
            <a:r>
              <a:rPr sz="1550" i="1">
                <a:solidFill>
                  <a:srgbClr val="16243B"/>
                </a:solidFill>
                <a:latin typeface="Calibri"/>
              </a:rPr>
              <a:t>We don’t rebuild for each client. We point the same model at the next problem.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84648" y="1371600"/>
            <a:ext cx="1828800" cy="54864"/>
          </a:xfrm>
          <a:prstGeom prst="rect">
            <a:avLst/>
          </a:prstGeom>
          <a:solidFill>
            <a:srgbClr val="12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2A897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700" b="0" i="0">
                <a:solidFill>
                  <a:srgbClr val="FFFFFF"/>
                </a:solidFill>
                <a:latin typeface="Calibri"/>
              </a:rPr>
              <a:t>We keep your data where it is, lay a clean map of meaning on top, and let the AI answer any question by following that map — live, governed, and the same way for every industry.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